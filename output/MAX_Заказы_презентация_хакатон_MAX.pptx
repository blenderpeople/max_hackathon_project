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репозиторий проекта; API: https://max-order.site/api/openapi.json. Внешние секреты не добавляются в слайды и передаются проверяющим через защищённый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PLAN.md, ARCHITECTURE.md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README.md, API_CONTRACT.md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Гипотеза ЦА сформирована командой для MVP. Пользовательские метрики будут измеряться в пилоте.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API_CONTRACT.md, backend/app/api/routes/*.py. Доступ к роли определяется сервером после валидации MAX initData.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показатели на слайде — план метрик пилота, не результаты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ARCHITECTURE.md; OpenAPI: https://max-order.site/api/openapi.json.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MAX Mini Apps validation documentation: https://dev.max.ru/docs/webapps/validation ; SECURITY.md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ARCHITECTURE.md, PLAN.md. Архитектурные направления — план развития, а не реализованные функции.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README.md, SECURITY.md, DEPLOY_BEGET.md. Статус привязки Mini App необходимо подтвердить на момент защиты.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 требований: текст задания, предоставленный организаторами. API-контракт: https://max-order.site/api/openapi.json.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https://dev.max.ru/docs/webapps/bridge ; https://dev.max.ru/docs/webapps/validation ; https://github.com/BlenderPeople/max_hackathon_project ; локальные документы README.md, API_CONTRACT.md, ARCHITECTURE.md, SECURITY.md.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5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СЛУЖЕБНЫЙ СЛАЙД · ТЕХНИЧЕСКАЯ ПРОВЕРКА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Заказы — данные для запуска и проверки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4DEEF"/>
                </a:solidFill>
              </a:rPr>
              <a:t>MVP Mini App для заказа услуг и ведения заказа в MAX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3851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7C6E2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6E2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D4FF"/>
                </a:solidFill>
              </a:rPr>
              <a:t>Ссылки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3504" y="22128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 App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03120" y="22128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9D9F5"/>
                </a:solidFill>
              </a:rPr>
              <a:t>https://max-order.site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603504" y="27614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/ health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03120" y="27614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9D9F5"/>
                </a:solidFill>
              </a:rPr>
              <a:t>https://max-order.site/api/healthz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603504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OpenAPI 3.1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03120" y="33101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9D9F5"/>
                </a:solidFill>
              </a:rPr>
              <a:t>https://max-order.site/api/openapi.json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603504" y="38587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103120" y="38587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9D9F5"/>
                </a:solidFill>
              </a:rPr>
              <a:t>github.com/BlenderPeople/max_hackathon_project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6419088" y="182880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6A"/>
                </a:solidFill>
              </a:rPr>
              <a:t>Перед сдачей — заполнить фактические данные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19088" y="2148840"/>
            <a:ext cx="5138928" cy="1316736"/>
          </a:xfrm>
          <a:prstGeom prst="roundRect">
            <a:avLst>
              <a:gd name="adj" fmla="val 4861"/>
            </a:avLst>
          </a:prstGeom>
          <a:solidFill>
            <a:srgbClr val="1B2A52"/>
          </a:solidFill>
          <a:ln w="10160">
            <a:solidFill>
              <a:srgbClr val="3653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19088" y="2148840"/>
            <a:ext cx="64008" cy="1316736"/>
          </a:xfrm>
          <a:prstGeom prst="rect">
            <a:avLst/>
          </a:prstGeom>
          <a:solidFill>
            <a:srgbClr val="FFD36A"/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232257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Бот и commit hash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20256" y="2679192"/>
            <a:ext cx="4791456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4DEEF"/>
                </a:solidFill>
              </a:rPr>
              <a:t>1) Вставить ссылку на НОВОГО бота, созданного организаторами.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4DEEF"/>
                </a:solidFill>
              </a:rPr>
              <a:t>2) Выполнить git rev-parse HEAD на VPS и вставить полный SHA развернутого commit.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419088" y="3611880"/>
            <a:ext cx="5138928" cy="1243584"/>
          </a:xfrm>
          <a:prstGeom prst="roundRect">
            <a:avLst>
              <a:gd name="adj" fmla="val 5147"/>
            </a:avLst>
          </a:prstGeom>
          <a:solidFill>
            <a:srgbClr val="1B2A52"/>
          </a:solidFill>
          <a:ln w="10160">
            <a:solidFill>
              <a:srgbClr val="3653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19088" y="3611880"/>
            <a:ext cx="64008" cy="1243584"/>
          </a:xfrm>
          <a:prstGeom prst="rect">
            <a:avLst/>
          </a:prstGeom>
          <a:solidFill>
            <a:srgbClr val="65D4FF"/>
          </a:solidFill>
          <a:ln w="12700">
            <a:solidFill>
              <a:srgbClr val="65D4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0256" y="37856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Доступ и секреты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620256" y="4142232"/>
            <a:ext cx="479145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4DEEF"/>
                </a:solidFill>
              </a:rPr>
              <a:t>Вход — через аккаунт MAX и подписанный initData, отдельного пароля нет. MAX_BOT_TOKEN, webhook secret и пароль БД — только защищённым каналом проверяющим.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603504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65D4FF"/>
                </a:solidFill>
              </a:rPr>
              <a:t>Основной сценарий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603504" y="5047488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</a:rPr>
              <a:t>Открыть бота → открыть Mini App → выбрать услугу и слот → создать заказ → мастер ведёт этапы / согласования → уведомление в MAX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603504" y="5614416"/>
            <a:ext cx="10954512" cy="438912"/>
          </a:xfrm>
          <a:prstGeom prst="roundRect">
            <a:avLst>
              <a:gd name="adj" fmla="val 12500"/>
            </a:avLst>
          </a:prstGeom>
          <a:solidFill>
            <a:srgbClr val="24365E"/>
          </a:solidFill>
          <a:ln w="6350">
            <a:solidFill>
              <a:srgbClr val="49628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" y="574243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E1A5"/>
                </a:solidFill>
              </a:rPr>
              <a:t>Статус на момент подготовки: URL отправлен организаторам; привязку Mini App к новому боту необходимо подтвердить перед демонстрацией.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РЕШЕНИЕ И КОМАНДА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Заказы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Mini App, который превращает переписку об услуге в прозрачный заказ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010144" y="1810512"/>
            <a:ext cx="2834640" cy="2834640"/>
          </a:xfrm>
          <a:prstGeom prst="arc">
            <a:avLst/>
          </a:prstGeom>
          <a:noFill/>
          <a:ln w="50800">
            <a:solidFill>
              <a:srgbClr val="1677FF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0" y="2596896"/>
            <a:ext cx="1280160" cy="1280160"/>
          </a:xfrm>
          <a:prstGeom prst="ellipse">
            <a:avLst/>
          </a:prstGeom>
          <a:solidFill>
            <a:srgbClr val="EEF5FF"/>
          </a:solidFill>
          <a:ln w="1524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79408" y="285292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77FF"/>
                </a:solidFill>
              </a:rPr>
              <a:t>заказ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77FF"/>
                </a:solidFill>
              </a:rPr>
              <a:t>в MAX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3504" y="2029968"/>
            <a:ext cx="6355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33E"/>
                </a:solidFill>
              </a:rPr>
              <a:t>Один контур для клиента и мастера: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233E"/>
                </a:solidFill>
              </a:rPr>
              <a:t>услуга, запись, статусы, согласования, файлы и уведомления.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03504" y="4041648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" y="4041648"/>
            <a:ext cx="64008" cy="123444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42153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Василий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4572000"/>
            <a:ext cx="296265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MAX-интеграция, DevOps, frontend integration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206240" y="4041648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4041648"/>
            <a:ext cx="64008" cy="1234440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07408" y="42153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Рома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07408" y="4572000"/>
            <a:ext cx="296265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UI и продуктовый frontend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808976" y="4041648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08976" y="4041648"/>
            <a:ext cx="64008" cy="123444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10144" y="42153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Сергей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10144" y="4572000"/>
            <a:ext cx="296265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backend, доменная модель и API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603504" y="565099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" y="5719572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MVP · заказ услуг</a:t>
            </a:r>
            <a:endParaRPr lang="en-US" sz="740" dirty="0"/>
          </a:p>
        </p:txBody>
      </p:sp>
      <p:sp>
        <p:nvSpPr>
          <p:cNvPr id="28" name="Text 25"/>
          <p:cNvSpPr/>
          <p:nvPr/>
        </p:nvSpPr>
        <p:spPr>
          <a:xfrm>
            <a:off x="2578608" y="5687568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Хакатон по разработке чат-ботов и Mini Apps для MAX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EXECUTIVE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 новый чат — управляемый жизненный цикл заказа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Сервисная коммуникация остается в MAX, а работа с заказом получает структуру.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1938528"/>
            <a:ext cx="3401568" cy="2176272"/>
          </a:xfrm>
          <a:prstGeom prst="roundRect">
            <a:avLst>
              <a:gd name="adj" fmla="val 2941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938528"/>
            <a:ext cx="64008" cy="217627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11226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Для клиента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68880"/>
            <a:ext cx="3054096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Выбрать услугу, увидеть свободные слоты, оставить описание, проверить цену и статус — без перехода в другой сервис.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389120" y="1938528"/>
            <a:ext cx="3401568" cy="2176272"/>
          </a:xfrm>
          <a:prstGeom prst="roundRect">
            <a:avLst>
              <a:gd name="adj" fmla="val 2941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1938528"/>
            <a:ext cx="64008" cy="2176272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211226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Для мастера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90288" y="2468880"/>
            <a:ext cx="3054096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Вести расписание и услуги; разбивать заказ на этапы; фиксировать изменения, оплату и запросы на согласование.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174736" y="1938528"/>
            <a:ext cx="3401568" cy="2176272"/>
          </a:xfrm>
          <a:prstGeom prst="roundRect">
            <a:avLst>
              <a:gd name="adj" fmla="val 2941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74736" y="1938528"/>
            <a:ext cx="64008" cy="2176272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211226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Для проверки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75904" y="2468880"/>
            <a:ext cx="3054096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Публичный HTTPS Mini App, FastAPI, OpenAPI, контейнерный запуск и воспроизводимый основный сценарий.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03504" y="4700016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EEF5FF"/>
          </a:solidFill>
          <a:ln w="10160">
            <a:solidFill>
              <a:srgbClr val="C7DC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92861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77FF"/>
                </a:solidFill>
              </a:rPr>
              <a:t>Ценность MVP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86000" y="4882896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33E"/>
                </a:solidFill>
              </a:rPr>
              <a:t>меньше ручной координации в чате, больше прозрачности по заказу — от заявки до завершения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АУДИТОРИЯ И ПРОБЛЕМА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Заказ услуги в чате легко теряет контекст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Первая целевая аудитория — частные мастера и небольшие сервисные команды, которые уже общаются с клиентами в MAX.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18470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708A"/>
                </a:solidFill>
              </a:rPr>
              <a:t>Как сейчас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331720"/>
            <a:ext cx="91440" cy="91440"/>
          </a:xfrm>
          <a:prstGeom prst="ellipse">
            <a:avLst/>
          </a:prstGeom>
          <a:solidFill>
            <a:srgbClr val="B33443"/>
          </a:solidFill>
          <a:ln w="12700">
            <a:solidFill>
              <a:srgbClr val="B334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212848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Детали заказа смешиваются с обычной перепиской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40080" y="3008376"/>
            <a:ext cx="91440" cy="91440"/>
          </a:xfrm>
          <a:prstGeom prst="ellipse">
            <a:avLst/>
          </a:prstGeom>
          <a:solidFill>
            <a:srgbClr val="B33443"/>
          </a:solidFill>
          <a:ln w="12700">
            <a:solidFill>
              <a:srgbClr val="B334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889504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Слот, цена и актуальный статус подтверждаются вручную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40080" y="3685032"/>
            <a:ext cx="91440" cy="91440"/>
          </a:xfrm>
          <a:prstGeom prst="ellipse">
            <a:avLst/>
          </a:prstGeom>
          <a:solidFill>
            <a:srgbClr val="B33443"/>
          </a:solidFill>
          <a:ln w="12700">
            <a:solidFill>
              <a:srgbClr val="B334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566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Правки и файлы трудно собрать в единую историю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062472" y="1865376"/>
            <a:ext cx="0" cy="3200400"/>
          </a:xfrm>
          <a:prstGeom prst="line">
            <a:avLst/>
          </a:prstGeom>
          <a:noFill/>
          <a:ln w="12700">
            <a:solidFill>
              <a:srgbClr val="D7E1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64808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77FF"/>
                </a:solidFill>
              </a:rPr>
              <a:t>Что меняется с MAX Заказы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92240" y="2331720"/>
            <a:ext cx="91440" cy="91440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21284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Услуга и свободное время доступны в Mini App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6492240" y="3008376"/>
            <a:ext cx="91440" cy="91440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288950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Заказ имеет этапы, timeline и role-based actions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6492240" y="3685032"/>
            <a:ext cx="91440" cy="91440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356616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33E"/>
                </a:solidFill>
              </a:rPr>
              <a:t>Согласование стоимости и уведомления становятся событием заказа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603504" y="5440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B86A00"/>
                </a:solidFill>
              </a:rPr>
              <a:t>Граница MVP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1883664" y="5413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8A"/>
                </a:solidFill>
              </a:rPr>
              <a:t>Не маркетплейс и не платежный провайдер: решение организует заказ в существующей коммуникации мастера и клиента.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ОСНОВНОЙ ПОЛЬЗОВАТЕЛЬСКИЙ 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услуги до завершенного заказа — в одном потоке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Сценарий проверяется двумя MAX-аккаунтами: клиентом и мастером.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52144" y="2029968"/>
            <a:ext cx="658368" cy="658368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2494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7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47088" y="2359152"/>
            <a:ext cx="1051560" cy="0"/>
          </a:xfrm>
          <a:prstGeom prst="line">
            <a:avLst/>
          </a:prstGeom>
          <a:noFill/>
          <a:ln w="1397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6692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E"/>
                </a:solidFill>
              </a:rPr>
              <a:t>Открыть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A"/>
                </a:solidFill>
              </a:rPr>
              <a:t>Пользователь запускает бота и открывает Mini App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56432" y="2029968"/>
            <a:ext cx="658368" cy="658368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56432" y="22494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7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51376" y="2359152"/>
            <a:ext cx="1051560" cy="0"/>
          </a:xfrm>
          <a:prstGeom prst="line">
            <a:avLst/>
          </a:prstGeom>
          <a:noFill/>
          <a:ln w="1397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2871216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E"/>
                </a:solidFill>
              </a:rPr>
              <a:t>Выбрать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71216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A"/>
                </a:solidFill>
              </a:rPr>
              <a:t>Клиент переходит по услуге, выбирает дату и свободный слот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60720" y="2029968"/>
            <a:ext cx="658368" cy="65836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22494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55664" y="2359152"/>
            <a:ext cx="1051560" cy="0"/>
          </a:xfrm>
          <a:prstGeom prst="line">
            <a:avLst/>
          </a:prstGeom>
          <a:noFill/>
          <a:ln w="1397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5175504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E"/>
                </a:solidFill>
              </a:rPr>
              <a:t>Создать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75504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A"/>
                </a:solidFill>
              </a:rPr>
              <a:t>Сервис фиксирует заказ, описание и запланированное время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065008" y="2029968"/>
            <a:ext cx="658368" cy="658368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65008" y="22494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7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59952" y="2359152"/>
            <a:ext cx="1051560" cy="0"/>
          </a:xfrm>
          <a:prstGeom prst="line">
            <a:avLst/>
          </a:prstGeom>
          <a:noFill/>
          <a:ln w="1397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479792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E"/>
                </a:solidFill>
              </a:rPr>
              <a:t>Вести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79792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A"/>
                </a:solidFill>
              </a:rPr>
              <a:t>Мастер управляет этапами, ценой, файлами и согласованиями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0369296" y="2029968"/>
            <a:ext cx="658368" cy="658368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69296" y="22494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7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8408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E"/>
                </a:solidFill>
              </a:rPr>
              <a:t>Закрыть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784080" y="3429000"/>
            <a:ext cx="182880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A"/>
                </a:solidFill>
              </a:rPr>
              <a:t>Клиент видит историю; обе стороны получают события в MAX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69848" y="5074920"/>
            <a:ext cx="10012680" cy="54864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7620">
            <a:solidFill>
              <a:srgbClr val="C7DC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80160" y="525780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33E"/>
                </a:solidFill>
              </a:rPr>
              <a:t>Результат сценария: заказ не исчезает в чате — у него есть ответственный, текущий этап, следующее действие и история.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ОЖИДАЕМЫЙ ЭФФЕКТ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Эффект — гипотеза пилота, а не заявленный факт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Мы измеряем, делает ли структурированный заказ коммуникацию быстрее и понятнее.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1901952"/>
            <a:ext cx="5138928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901952"/>
            <a:ext cx="64008" cy="128016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075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Конверсия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32304"/>
            <a:ext cx="479145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запуск Mini App → созданный заказ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Показывает, понятен ли путь от услуги к заявке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117336" y="1901952"/>
            <a:ext cx="5138928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7336" y="1901952"/>
            <a:ext cx="64008" cy="1280160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2075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Скорость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18504" y="2432304"/>
            <a:ext cx="479145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время до подтверждения слота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Показывает, сократили ли ручную координацию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03504" y="3566160"/>
            <a:ext cx="5138928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" y="3566160"/>
            <a:ext cx="64008" cy="128016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373989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Прозрачность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096512"/>
            <a:ext cx="479145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доля заказов с заполненным статусом / этапом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Показывает, используется ли контур ведения заказа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117336" y="3566160"/>
            <a:ext cx="5138928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17336" y="3566160"/>
            <a:ext cx="64008" cy="1280160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18504" y="373989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Качество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18504" y="4096512"/>
            <a:ext cx="479145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доля согласований, закрытых без повторного запроса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Проверяет, достаточно ли информации в заказе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603504" y="5449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677FF"/>
                </a:solidFill>
              </a:rPr>
              <a:t>Пилотный контур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2029968" y="5422392"/>
            <a:ext cx="9098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8A"/>
                </a:solidFill>
              </a:rPr>
              <a:t>3–5 мастеров · реальные услуги · две роли MAX · журнал событий API и обратная связь после завершения заказа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АРХИТЕКТУРА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Чистые границы: MAX, интерфейс, домен и доставка событий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Интеграции изолированы, а бизнес-правила не зависят от UI или транспорта.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07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2240280"/>
            <a:ext cx="1627632" cy="1883664"/>
          </a:xfrm>
          <a:prstGeom prst="roundRect">
            <a:avLst>
              <a:gd name="adj" fmla="val 393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2240280"/>
            <a:ext cx="1627632" cy="9144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5786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E"/>
                </a:solidFill>
              </a:rPr>
              <a:t>MAX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" y="306324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Bot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Mini App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Bridge / initData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2267712" y="3182112"/>
            <a:ext cx="521208" cy="0"/>
          </a:xfrm>
          <a:prstGeom prst="line">
            <a:avLst/>
          </a:prstGeom>
          <a:noFill/>
          <a:ln w="1524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53512" y="2240280"/>
            <a:ext cx="1627632" cy="1883664"/>
          </a:xfrm>
          <a:prstGeom prst="roundRect">
            <a:avLst>
              <a:gd name="adj" fmla="val 393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53512" y="2240280"/>
            <a:ext cx="1627632" cy="91440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9816" y="25786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E"/>
                </a:solidFill>
              </a:rPr>
              <a:t>React + 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72384" y="306324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features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api client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bridge adapter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617720" y="3182112"/>
            <a:ext cx="521208" cy="0"/>
          </a:xfrm>
          <a:prstGeom prst="line">
            <a:avLst/>
          </a:prstGeom>
          <a:noFill/>
          <a:ln w="1524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303520" y="2240280"/>
            <a:ext cx="1627632" cy="1883664"/>
          </a:xfrm>
          <a:prstGeom prst="roundRect">
            <a:avLst>
              <a:gd name="adj" fmla="val 393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0" y="2240280"/>
            <a:ext cx="1627632" cy="9144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9824" y="25786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E"/>
                </a:solidFill>
              </a:rPr>
              <a:t>FastAPI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22392" y="306324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routes / schemas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services / domain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MAX webhook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6967728" y="3182112"/>
            <a:ext cx="521208" cy="0"/>
          </a:xfrm>
          <a:prstGeom prst="line">
            <a:avLst/>
          </a:prstGeom>
          <a:noFill/>
          <a:ln w="1524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653528" y="2240280"/>
            <a:ext cx="1627632" cy="1883664"/>
          </a:xfrm>
          <a:prstGeom prst="roundRect">
            <a:avLst>
              <a:gd name="adj" fmla="val 393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53528" y="2240280"/>
            <a:ext cx="1627632" cy="91440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99832" y="25786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E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0" y="306324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users / services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orders / events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outbox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317736" y="3182112"/>
            <a:ext cx="521208" cy="0"/>
          </a:xfrm>
          <a:prstGeom prst="line">
            <a:avLst/>
          </a:prstGeom>
          <a:noFill/>
          <a:ln w="15240">
            <a:solidFill>
              <a:srgbClr val="D7E1F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003536" y="2240280"/>
            <a:ext cx="1627632" cy="1883664"/>
          </a:xfrm>
          <a:prstGeom prst="roundRect">
            <a:avLst>
              <a:gd name="adj" fmla="val 393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003536" y="2240280"/>
            <a:ext cx="1627632" cy="9144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149840" y="25786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E"/>
                </a:solidFill>
              </a:rPr>
              <a:t>Worker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122408" y="306324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outbox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MAX notifications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retry after commit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1417320" y="4992624"/>
            <a:ext cx="9326880" cy="566928"/>
          </a:xfrm>
          <a:prstGeom prst="roundRect">
            <a:avLst>
              <a:gd name="adj" fmla="val 9677"/>
            </a:avLst>
          </a:prstGeom>
          <a:solidFill>
            <a:srgbClr val="101B3D"/>
          </a:solidFill>
          <a:ln w="12700">
            <a:solidFill>
              <a:srgbClr val="101B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82496" y="51937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FFFFFF"/>
                </a:solidFill>
              </a:rPr>
              <a:t>Деплой: Docker Compose production + Caddy HTTPS · API-договор: OpenAPI 3.1 · данные: PostgreSQL + миграции Alembic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ДАННЫЕ И ИНТЕГРАЦИИ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Авторизация MAX — без отдельного пароля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Backend проверяет подписанный initData; интерфейс получает только короткую сессию.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1901952"/>
            <a:ext cx="3401568" cy="2267712"/>
          </a:xfrm>
          <a:prstGeom prst="roundRect">
            <a:avLst>
              <a:gd name="adj" fmla="val 282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901952"/>
            <a:ext cx="64008" cy="226771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075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Идентификация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32304"/>
            <a:ext cx="3054096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MAX initData → серверная HMAC-проверка → session token с TTL. initDataUnsafe не используется как источник доверия.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389120" y="1901952"/>
            <a:ext cx="3401568" cy="2267712"/>
          </a:xfrm>
          <a:prstGeom prst="roundRect">
            <a:avLst>
              <a:gd name="adj" fmla="val 282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1901952"/>
            <a:ext cx="64008" cy="2267712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2075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Данные заказа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90288" y="2432304"/>
            <a:ext cx="3054096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Публичные opaque tokens в URL. Статусы, этапы, согласования, платежи и timeline хранятся в PostgreSQL.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174736" y="1901952"/>
            <a:ext cx="3401568" cy="2267712"/>
          </a:xfrm>
          <a:prstGeom prst="roundRect">
            <a:avLst>
              <a:gd name="adj" fmla="val 2823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74736" y="1901952"/>
            <a:ext cx="64008" cy="2267712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2075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События и файлы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75904" y="2432304"/>
            <a:ext cx="3054096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Outbox записывается в одной транзакции с заказом; worker отправляет уведомление после commit. Файлы — private volume MVP.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03504" y="4800600"/>
            <a:ext cx="10972800" cy="676656"/>
          </a:xfrm>
          <a:prstGeom prst="roundRect">
            <a:avLst>
              <a:gd name="adj" fmla="val 9459"/>
            </a:avLst>
          </a:prstGeom>
          <a:solidFill>
            <a:srgbClr val="FFF4D9"/>
          </a:solidFill>
          <a:ln w="8890">
            <a:solidFill>
              <a:srgbClr val="F4D68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03834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B86A00"/>
                </a:solidFill>
              </a:rPr>
              <a:t>Не публикуем в презентации или Git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3200400" y="5010912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33E"/>
                </a:solidFill>
              </a:rPr>
              <a:t>MAX_BOT_TOKEN · webhook secret · пароли БД · bearer-сессии. Для проверки — передача организаторам защищённым способом.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МАСШТАБИРОВАНИЕ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уже разделён на точки роста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Мы не усложняем первый релиз, но фиксируем заменяемые границы заранее.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944368" y="1810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63708A"/>
                </a:solidFill>
              </a:rPr>
              <a:t>Сейчас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7589520" y="1810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677FF"/>
                </a:solidFill>
              </a:rPr>
              <a:t>Следующий шаг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58368" y="237744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33E"/>
                </a:solidFill>
              </a:rPr>
              <a:t>Хранение файлов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2816352" y="2176272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F6F8FC"/>
          </a:solidFill>
          <a:ln w="8890">
            <a:solidFill>
              <a:srgbClr val="D7E1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71800" y="235000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Private Docker volume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6144768" y="2441448"/>
            <a:ext cx="960120" cy="0"/>
          </a:xfrm>
          <a:prstGeom prst="line">
            <a:avLst/>
          </a:prstGeom>
          <a:noFill/>
          <a:ln w="1524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69480" y="2176272"/>
            <a:ext cx="4297680" cy="530352"/>
          </a:xfrm>
          <a:prstGeom prst="roundRect">
            <a:avLst>
              <a:gd name="adj" fmla="val 8621"/>
            </a:avLst>
          </a:prstGeom>
          <a:solidFill>
            <a:srgbClr val="EEF5FF"/>
          </a:solidFill>
          <a:ln w="8890">
            <a:solidFill>
              <a:srgbClr val="BFD8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4928" y="23500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33E"/>
                </a:solidFill>
              </a:rPr>
              <a:t>S3-совместимое объектное хранилище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658368" y="32186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33E"/>
                </a:solidFill>
              </a:rPr>
              <a:t>Уведомления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2816352" y="3017520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F6F8FC"/>
          </a:solidFill>
          <a:ln w="8890">
            <a:solidFill>
              <a:srgbClr val="D7E1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71800" y="319125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Outbox worker в Compose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144768" y="3282696"/>
            <a:ext cx="960120" cy="0"/>
          </a:xfrm>
          <a:prstGeom prst="line">
            <a:avLst/>
          </a:prstGeom>
          <a:noFill/>
          <a:ln w="1524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69480" y="3017520"/>
            <a:ext cx="4297680" cy="530352"/>
          </a:xfrm>
          <a:prstGeom prst="roundRect">
            <a:avLst>
              <a:gd name="adj" fmla="val 8621"/>
            </a:avLst>
          </a:prstGeom>
          <a:solidFill>
            <a:srgbClr val="EEF5FF"/>
          </a:solidFill>
          <a:ln w="8890">
            <a:solidFill>
              <a:srgbClr val="BFD8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24928" y="3191256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33E"/>
                </a:solidFill>
              </a:rPr>
              <a:t>Отдельный воркер / очередь / мониторинг ретраев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658368" y="40599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33E"/>
                </a:solidFill>
              </a:rPr>
              <a:t>Бизнесы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2816352" y="3858768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F6F8FC"/>
          </a:solidFill>
          <a:ln w="8890">
            <a:solidFill>
              <a:srgbClr val="D7E1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71800" y="403250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Один владелец и каталог услуг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144768" y="4123944"/>
            <a:ext cx="960120" cy="0"/>
          </a:xfrm>
          <a:prstGeom prst="line">
            <a:avLst/>
          </a:prstGeom>
          <a:noFill/>
          <a:ln w="1524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269480" y="3858768"/>
            <a:ext cx="4297680" cy="530352"/>
          </a:xfrm>
          <a:prstGeom prst="roundRect">
            <a:avLst>
              <a:gd name="adj" fmla="val 8621"/>
            </a:avLst>
          </a:prstGeom>
          <a:solidFill>
            <a:srgbClr val="EEF5FF"/>
          </a:solidFill>
          <a:ln w="8890">
            <a:solidFill>
              <a:srgbClr val="BFD8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24928" y="403250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33E"/>
                </a:solidFill>
              </a:rPr>
              <a:t>Команды, филиалы, роли и тарифы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658368" y="49011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33E"/>
                </a:solidFill>
              </a:rPr>
              <a:t>Вертикали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2816352" y="4700016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F6F8FC"/>
          </a:solidFill>
          <a:ln w="8890">
            <a:solidFill>
              <a:srgbClr val="D7E1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71800" y="48737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3708A"/>
                </a:solidFill>
              </a:rPr>
              <a:t>Услуги с записью по слотам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6144768" y="4965192"/>
            <a:ext cx="960120" cy="0"/>
          </a:xfrm>
          <a:prstGeom prst="line">
            <a:avLst/>
          </a:prstGeom>
          <a:noFill/>
          <a:ln w="15240">
            <a:solidFill>
              <a:srgbClr val="1677FF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269480" y="4700016"/>
            <a:ext cx="4297680" cy="530352"/>
          </a:xfrm>
          <a:prstGeom prst="roundRect">
            <a:avLst>
              <a:gd name="adj" fmla="val 8621"/>
            </a:avLst>
          </a:prstGeom>
          <a:solidFill>
            <a:srgbClr val="EEF5FF"/>
          </a:solidFill>
          <a:ln w="8890">
            <a:solidFill>
              <a:srgbClr val="BFD8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24928" y="4873752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33E"/>
                </a:solidFill>
              </a:rPr>
              <a:t>Ремонт, beauty, консультации, выездные работы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ОГРАНИЧЕНИЯ И РИСКИ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Риски не скрываем — у каждого есть следующий шаг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Состояние и допущения отделены от функциональности, которая уже есть в коде.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1920240"/>
            <a:ext cx="5157216" cy="1307592"/>
          </a:xfrm>
          <a:prstGeom prst="roundRect">
            <a:avLst>
              <a:gd name="adj" fmla="val 489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920240"/>
            <a:ext cx="64008" cy="1307592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09397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Привязка Mini App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50592"/>
            <a:ext cx="4809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Новый бот должен быть связан с ранее отправленным HTTPS URL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→ Подтвердить у организаторов / в настройках, затем пройти /start и открыть Mini App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117336" y="1920240"/>
            <a:ext cx="5157216" cy="1307592"/>
          </a:xfrm>
          <a:prstGeom prst="roundRect">
            <a:avLst>
              <a:gd name="adj" fmla="val 489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7336" y="1920240"/>
            <a:ext cx="64008" cy="130759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209397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Реальная доставка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18504" y="2450592"/>
            <a:ext cx="4809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MAX webhook и уведомления требуют прогона на боевом боте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→ Прогнать два MAX-аккаунта и проверить логи api + notifications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03504" y="3611880"/>
            <a:ext cx="5157216" cy="1307592"/>
          </a:xfrm>
          <a:prstGeom prst="roundRect">
            <a:avLst>
              <a:gd name="adj" fmla="val 489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" y="3611880"/>
            <a:ext cx="64008" cy="1307592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378561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MVP-хранилище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142232"/>
            <a:ext cx="4809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Файлы живут на одном VPS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→ Для пилота — backup; для роста — S3-совместимое хранилище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117336" y="3611880"/>
            <a:ext cx="5157216" cy="1307592"/>
          </a:xfrm>
          <a:prstGeom prst="roundRect">
            <a:avLst>
              <a:gd name="adj" fmla="val 4895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17336" y="3611880"/>
            <a:ext cx="64008" cy="1307592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18504" y="378561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Проверка API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18504" y="4142232"/>
            <a:ext cx="4809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Нужны воспроизводимые тестовые данные и manifest оценщика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→ Подготовить DATA-API.yaml по точной схеме организаторов и отдельный набор данных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6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СОБСТВЕННЫЙ API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Пакет для технической проверки API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</a:rPr>
              <a:t>То, что должно лежать рядом с презентацией и быть доступно в период проверки.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D7E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3708A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708A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" y="188366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883664"/>
            <a:ext cx="64008" cy="13716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0574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HTTPS API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1401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https://max-order.site/api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health: /healthz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334256" y="188366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34256" y="1883664"/>
            <a:ext cx="64008" cy="1371600"/>
          </a:xfrm>
          <a:prstGeom prst="rect">
            <a:avLst/>
          </a:prstGeom>
          <a:solidFill>
            <a:srgbClr val="6B5CFF"/>
          </a:solidFill>
          <a:ln w="12700">
            <a:solidFill>
              <a:srgbClr val="6B5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35424" y="20574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OpenAPI 3.1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35424" y="241401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/api/openapi.json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интерактивно: /api/docs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065008" y="188366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883664"/>
            <a:ext cx="64008" cy="137160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6176" y="20574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Учетные записи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66176" y="241401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Две роли через два MAX-аккаунта: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клиент и мастер; отдельного пароля нет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03504" y="366674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" y="3666744"/>
            <a:ext cx="64008" cy="1371600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38404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Тестовые данные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4672" y="419709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Отдельный JSON/CSV: мастер, услуга, свободный слот, заказ; не production-персональные данные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334256" y="366674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4256" y="3666744"/>
            <a:ext cx="64008" cy="1371600"/>
          </a:xfrm>
          <a:prstGeom prst="rect">
            <a:avLst/>
          </a:prstGeom>
          <a:solidFill>
            <a:srgbClr val="B33443"/>
          </a:solidFill>
          <a:ln w="12700">
            <a:solidFill>
              <a:srgbClr val="B334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35424" y="38404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DATA-API.yaml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35424" y="419709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Добавить по точной schema version организаторов: base URL, проверки, роли, запросы, статусы и обязательные поля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8065008" y="3666744"/>
            <a:ext cx="3401568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0160">
            <a:solidFill>
              <a:srgbClr val="D7E1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65008" y="3666744"/>
            <a:ext cx="64008" cy="13716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66176" y="38404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E"/>
                </a:solidFill>
              </a:rPr>
              <a:t>Обязательный прогон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266176" y="4197096"/>
            <a:ext cx="305409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3708A"/>
                </a:solidFill>
              </a:rPr>
              <a:t>GET healthz → авторизация в Mini App → POST order → смена этапа / событие → проверка уведомления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603504" y="5641848"/>
            <a:ext cx="10972800" cy="402336"/>
          </a:xfrm>
          <a:prstGeom prst="roundRect">
            <a:avLst>
              <a:gd name="adj" fmla="val 11364"/>
            </a:avLst>
          </a:prstGeom>
          <a:solidFill>
            <a:srgbClr val="FFF4D9"/>
          </a:solidFill>
          <a:ln w="7620">
            <a:solidFill>
              <a:srgbClr val="F4D68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" y="5769864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6A00"/>
                </a:solidFill>
              </a:rPr>
              <a:t>Важно: schema version DATA-API.yaml в требованиях не приведена — перед сдачей взять точный шаблон у организаторов, а не угадывать формат.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5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ИСТОЧНИКИ И ГОТОВНОСТЬ К ЗАЩИТЕ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показать на демонстрации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4DEEF"/>
                </a:solidFill>
              </a:rPr>
              <a:t>Короткая защита строится на одном реальном сценарии, а не на обещаниях.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8890">
            <a:solidFill>
              <a:srgbClr val="3851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7C6E2"/>
                </a:solidFill>
              </a:rPr>
              <a:t>MAX Заказы · Хакатон MAX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991088" y="649224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6E2"/>
                </a:solidFill>
              </a:rPr>
              <a:t>12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182880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D4FF"/>
                </a:solidFill>
              </a:rPr>
              <a:t>Демонстрация · 3–4 минуты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" y="2340864"/>
            <a:ext cx="91440" cy="91440"/>
          </a:xfrm>
          <a:prstGeom prst="ellipse">
            <a:avLst/>
          </a:prstGeom>
          <a:solidFill>
            <a:srgbClr val="65D4FF"/>
          </a:solidFill>
          <a:ln w="12700">
            <a:solidFill>
              <a:srgbClr val="65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222199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1. Открыть бота, показать кнопку запуска Mini App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" y="2907792"/>
            <a:ext cx="91440" cy="91440"/>
          </a:xfrm>
          <a:prstGeom prst="ellipse">
            <a:avLst/>
          </a:prstGeom>
          <a:solidFill>
            <a:srgbClr val="65D4FF"/>
          </a:solidFill>
          <a:ln w="12700">
            <a:solidFill>
              <a:srgbClr val="65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2. Открыть услугу, выбрать свободный слот, создать заказ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" y="3474720"/>
            <a:ext cx="91440" cy="91440"/>
          </a:xfrm>
          <a:prstGeom prst="ellipse">
            <a:avLst/>
          </a:prstGeom>
          <a:solidFill>
            <a:srgbClr val="65D4FF"/>
          </a:solidFill>
          <a:ln w="12700">
            <a:solidFill>
              <a:srgbClr val="65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3558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3. Со второго MAX-аккаунта показать ведение этапа или согласование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" y="4041648"/>
            <a:ext cx="91440" cy="91440"/>
          </a:xfrm>
          <a:prstGeom prst="ellipse">
            <a:avLst/>
          </a:prstGeom>
          <a:solidFill>
            <a:srgbClr val="65D4FF"/>
          </a:solidFill>
          <a:ln w="12700">
            <a:solidFill>
              <a:srgbClr val="65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39227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4. Открыть карточку заказа, timeline и событие/уведомление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720840" y="1874520"/>
            <a:ext cx="4837176" cy="2596896"/>
          </a:xfrm>
          <a:prstGeom prst="roundRect">
            <a:avLst>
              <a:gd name="adj" fmla="val 2817"/>
            </a:avLst>
          </a:prstGeom>
          <a:solidFill>
            <a:srgbClr val="1B2A52"/>
          </a:solidFill>
          <a:ln w="10160">
            <a:solidFill>
              <a:srgbClr val="3653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04304" y="221284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D36A"/>
                </a:solidFill>
              </a:rPr>
              <a:t>Перед отправкой презентации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7004304" y="2770632"/>
            <a:ext cx="91440" cy="91440"/>
          </a:xfrm>
          <a:prstGeom prst="ellipse">
            <a:avLst/>
          </a:prstGeom>
          <a:solidFill>
            <a:srgbClr val="FFD36A"/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87184" y="26517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3ECFB"/>
                </a:solidFill>
              </a:rPr>
              <a:t>Указать актуальную ссылку нового бота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7004304" y="3200400"/>
            <a:ext cx="91440" cy="91440"/>
          </a:xfrm>
          <a:prstGeom prst="ellipse">
            <a:avLst/>
          </a:prstGeom>
          <a:solidFill>
            <a:srgbClr val="FFD36A"/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87184" y="3081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3ECFB"/>
                </a:solidFill>
              </a:rPr>
              <a:t>Заменить SHA на commit, реально развернутый на VPS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004304" y="3630168"/>
            <a:ext cx="91440" cy="91440"/>
          </a:xfrm>
          <a:prstGeom prst="ellipse">
            <a:avLst/>
          </a:prstGeom>
          <a:solidFill>
            <a:srgbClr val="FFD36A"/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87184" y="35112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3ECFB"/>
                </a:solidFill>
              </a:rPr>
              <a:t>Проверить URL API извне и прикрепить DATA-API.yaml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7004304" y="4059936"/>
            <a:ext cx="91440" cy="91440"/>
          </a:xfrm>
          <a:prstGeom prst="ellipse">
            <a:avLst/>
          </a:prstGeom>
          <a:solidFill>
            <a:srgbClr val="FFD36A"/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87184" y="39410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3ECFB"/>
                </a:solidFill>
              </a:rPr>
              <a:t>Передать секреты только защищённым каналом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3504" y="5074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D4FF"/>
                </a:solidFill>
              </a:rPr>
              <a:t>Источники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481328" y="5047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D4DEEF"/>
                </a:solidFill>
              </a:rPr>
              <a:t>Документация MAX: dev.max.ru/docs/webapps/bridge · dev.max.ru/docs/webapps/validation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D4DEEF"/>
                </a:solidFill>
              </a:rPr>
              <a:t>Репозиторий: github.com/BlenderPeople/max_hackathon_project · API: max-order.site/api/openapi.json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MAX Заказы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Заказы — MVP Mini App</dc:title>
  <dc:subject>Презентация решения для хакатона MAX</dc:subject>
  <dc:creator>Команда MAX Заказы</dc:creator>
  <cp:lastModifiedBy>Команда MAX Заказы</cp:lastModifiedBy>
  <cp:revision>1</cp:revision>
  <dcterms:created xsi:type="dcterms:W3CDTF">2026-09-29T19:57:57Z</dcterms:created>
  <dcterms:modified xsi:type="dcterms:W3CDTF">2026-09-29T19:57:57Z</dcterms:modified>
</cp:coreProperties>
</file>